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62dff950674424" /><Relationship Type="http://schemas.openxmlformats.org/officeDocument/2006/relationships/extended-properties" Target="/docProps/app.xml" Id="R84ffba1fa829485a" /><Relationship Type="http://schemas.openxmlformats.org/officeDocument/2006/relationships/officeDocument" Target="/ppt/presentation.xml" Id="R3400c5f75bd046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1b171ce850c48ea"/>
  </p:sldMasterIdLst>
  <p:notesMasterIdLst>
    <p:notesMasterId xmlns:r="http://schemas.openxmlformats.org/officeDocument/2006/relationships" r:id="R3c8b5211a3234660"/>
  </p:notesMasterIdLst>
  <p:sldIdLst>
    <p:sldId xmlns:r="http://schemas.openxmlformats.org/officeDocument/2006/relationships" id="256" r:id="Rec8f8d26bcdc4881"/>
    <p:sldId xmlns:r="http://schemas.openxmlformats.org/officeDocument/2006/relationships" id="257" r:id="Rf5973ad38cf74b23"/>
    <p:sldId xmlns:r="http://schemas.openxmlformats.org/officeDocument/2006/relationships" id="258" r:id="Rceedb760880a48ae"/>
    <p:sldId xmlns:r="http://schemas.openxmlformats.org/officeDocument/2006/relationships" id="259" r:id="R9a59960b8bdf4127"/>
    <p:sldId xmlns:r="http://schemas.openxmlformats.org/officeDocument/2006/relationships" id="260" r:id="Rc3a78217f1cd4351"/>
    <p:sldId xmlns:r="http://schemas.openxmlformats.org/officeDocument/2006/relationships" id="261" r:id="R9aeae09a16d84ec6"/>
    <p:sldId xmlns:r="http://schemas.openxmlformats.org/officeDocument/2006/relationships" id="262" r:id="R8b7b2af0710d4dca"/>
    <p:sldId xmlns:r="http://schemas.openxmlformats.org/officeDocument/2006/relationships" id="263" r:id="R44bb15d017bb455a"/>
    <p:sldId xmlns:r="http://schemas.openxmlformats.org/officeDocument/2006/relationships" id="264" r:id="R45d64d1162994ad0"/>
    <p:sldId xmlns:r="http://schemas.openxmlformats.org/officeDocument/2006/relationships" id="265" r:id="R216cf6ac94e04098"/>
    <p:sldId xmlns:r="http://schemas.openxmlformats.org/officeDocument/2006/relationships" id="266" r:id="R7512a8f267a14a05"/>
    <p:sldId xmlns:r="http://schemas.openxmlformats.org/officeDocument/2006/relationships" id="267" r:id="Red4a2d16f8ab4bbb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b171ce850c48ea" /><Relationship Type="http://schemas.openxmlformats.org/officeDocument/2006/relationships/theme" Target="/ppt/theme/theme1.xml" Id="Rd6b1c199998340e1" /><Relationship Type="http://schemas.openxmlformats.org/officeDocument/2006/relationships/notesMaster" Target="/ppt/notesMasters/notesMaster1.xml" Id="R3c8b5211a3234660" /><Relationship Type="http://schemas.openxmlformats.org/officeDocument/2006/relationships/presProps" Target="/ppt/presProps.xml" Id="Rbd23cc55621b4da8" /><Relationship Type="http://schemas.openxmlformats.org/officeDocument/2006/relationships/viewProps" Target="/ppt/viewProps.xml" Id="Rc37f2036122d44fa" /><Relationship Type="http://schemas.openxmlformats.org/officeDocument/2006/relationships/tableStyles" Target="/ppt/tableStyles.xml" Id="R8308a8d932fb48bb" /><Relationship Type="http://schemas.openxmlformats.org/officeDocument/2006/relationships/slide" Target="/ppt/slides/slide1.xml" Id="Rec8f8d26bcdc4881" /><Relationship Type="http://schemas.openxmlformats.org/officeDocument/2006/relationships/slide" Target="/ppt/slides/slide2.xml" Id="Rf5973ad38cf74b23" /><Relationship Type="http://schemas.openxmlformats.org/officeDocument/2006/relationships/slide" Target="/ppt/slides/slide3.xml" Id="Rceedb760880a48ae" /><Relationship Type="http://schemas.openxmlformats.org/officeDocument/2006/relationships/slide" Target="/ppt/slides/slide4.xml" Id="R9a59960b8bdf4127" /><Relationship Type="http://schemas.openxmlformats.org/officeDocument/2006/relationships/slide" Target="/ppt/slides/slide5.xml" Id="Rc3a78217f1cd4351" /><Relationship Type="http://schemas.openxmlformats.org/officeDocument/2006/relationships/slide" Target="/ppt/slides/slide6.xml" Id="R9aeae09a16d84ec6" /><Relationship Type="http://schemas.openxmlformats.org/officeDocument/2006/relationships/slide" Target="/ppt/slides/slide7.xml" Id="R8b7b2af0710d4dca" /><Relationship Type="http://schemas.openxmlformats.org/officeDocument/2006/relationships/slide" Target="/ppt/slides/slide8.xml" Id="R44bb15d017bb455a" /><Relationship Type="http://schemas.openxmlformats.org/officeDocument/2006/relationships/slide" Target="/ppt/slides/slide9.xml" Id="R45d64d1162994ad0" /><Relationship Type="http://schemas.openxmlformats.org/officeDocument/2006/relationships/slide" Target="/ppt/slides/slide10.xml" Id="R216cf6ac94e04098" /><Relationship Type="http://schemas.openxmlformats.org/officeDocument/2006/relationships/slide" Target="/ppt/slides/slide11.xml" Id="R7512a8f267a14a05" /><Relationship Type="http://schemas.openxmlformats.org/officeDocument/2006/relationships/slide" Target="/ppt/slides/slide12.xml" Id="Red4a2d16f8ab4bb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6976848d91c545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420032aa9734f7a" /><Relationship Type="http://schemas.openxmlformats.org/officeDocument/2006/relationships/notesMaster" Target="/ppt/notesMasters/notesMaster1.xml" Id="Rc7c96413ed2241d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a6e071a69c1459e" /><Relationship Type="http://schemas.openxmlformats.org/officeDocument/2006/relationships/notesMaster" Target="/ppt/notesMasters/notesMaster1.xml" Id="Rf66b04c93c4c4c1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b6ab7bc3f44d7d" /><Relationship Type="http://schemas.openxmlformats.org/officeDocument/2006/relationships/notesMaster" Target="/ppt/notesMasters/notesMaster1.xml" Id="R7bd4dc285004422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fede0308c1043bf" /><Relationship Type="http://schemas.openxmlformats.org/officeDocument/2006/relationships/notesMaster" Target="/ppt/notesMasters/notesMaster1.xml" Id="R5aed66b44b344b4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c61a665dd5a4016" /><Relationship Type="http://schemas.openxmlformats.org/officeDocument/2006/relationships/notesMaster" Target="/ppt/notesMasters/notesMaster1.xml" Id="Rfd3aaf3492fd44c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98cec7889e74675" /><Relationship Type="http://schemas.openxmlformats.org/officeDocument/2006/relationships/notesMaster" Target="/ppt/notesMasters/notesMaster1.xml" Id="R5e87005e966a48e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69dab5c87cd42b8" /><Relationship Type="http://schemas.openxmlformats.org/officeDocument/2006/relationships/notesMaster" Target="/ppt/notesMasters/notesMaster1.xml" Id="R1c4d149176714ff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9a5542d43dd4376" /><Relationship Type="http://schemas.openxmlformats.org/officeDocument/2006/relationships/notesMaster" Target="/ppt/notesMasters/notesMaster1.xml" Id="R7f4113e293ed405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bdc273417d74e73" /><Relationship Type="http://schemas.openxmlformats.org/officeDocument/2006/relationships/notesMaster" Target="/ppt/notesMasters/notesMaster1.xml" Id="Rbcc5857e2bcf432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8cffce39164f73" /><Relationship Type="http://schemas.openxmlformats.org/officeDocument/2006/relationships/notesMaster" Target="/ppt/notesMasters/notesMaster1.xml" Id="R387412546d424b0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021b71645b54f14" /><Relationship Type="http://schemas.openxmlformats.org/officeDocument/2006/relationships/notesMaster" Target="/ppt/notesMasters/notesMaster1.xml" Id="R822b84008e9c440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fe75d0d36694403" /><Relationship Type="http://schemas.openxmlformats.org/officeDocument/2006/relationships/notesMaster" Target="/ppt/notesMasters/notesMaster1.xml" Id="R842f0c626e08489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789933d3c94952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6f101431877442fe" /><Relationship Type="http://schemas.openxmlformats.org/officeDocument/2006/relationships/slideLayout" Target="/ppt/slideLayouts/slideLayout2.xml" Id="R2f8b001afd44474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f8b001afd44474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e6f9bfc059545b4" /><Relationship Type="http://schemas.openxmlformats.org/officeDocument/2006/relationships/notesSlide" Target="/ppt/notesSlides/notesSlide1.xml" Id="R1e329192eab149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a147d475d88430b" /><Relationship Type="http://schemas.openxmlformats.org/officeDocument/2006/relationships/notesSlide" Target="/ppt/notesSlides/notesSlide2.xml" Id="R9590e22ce7504e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92e7d75975045f3" /><Relationship Type="http://schemas.openxmlformats.org/officeDocument/2006/relationships/notesSlide" Target="/ppt/notesSlides/notesSlide3.xml" Id="R7ae5bd84c8e248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82a55e595234311" /><Relationship Type="http://schemas.openxmlformats.org/officeDocument/2006/relationships/notesSlide" Target="/ppt/notesSlides/notesSlide4.xml" Id="R0374d1ec8db441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fd244b724c4c3f" /><Relationship Type="http://schemas.openxmlformats.org/officeDocument/2006/relationships/notesSlide" Target="/ppt/notesSlides/notesSlide5.xml" Id="Rff03005528d8487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a09487c4dba40e9" /><Relationship Type="http://schemas.openxmlformats.org/officeDocument/2006/relationships/notesSlide" Target="/ppt/notesSlides/notesSlide6.xml" Id="Rf1b5b0470aa947d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d911f813f604437" /><Relationship Type="http://schemas.openxmlformats.org/officeDocument/2006/relationships/notesSlide" Target="/ppt/notesSlides/notesSlide7.xml" Id="R7bc26a62f9454a7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dc0e0959b74f3a" /><Relationship Type="http://schemas.openxmlformats.org/officeDocument/2006/relationships/notesSlide" Target="/ppt/notesSlides/notesSlide8.xml" Id="R0550b24e58224ef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868c4c08bf43cf" /><Relationship Type="http://schemas.openxmlformats.org/officeDocument/2006/relationships/notesSlide" Target="/ppt/notesSlides/notesSlide9.xml" Id="Rff49560c44e740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64a9462876942e9" /><Relationship Type="http://schemas.openxmlformats.org/officeDocument/2006/relationships/notesSlide" Target="/ppt/notesSlides/notesSlide10.xml" Id="Rac4557050561454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52cf59c447e4fb8" /><Relationship Type="http://schemas.openxmlformats.org/officeDocument/2006/relationships/notesSlide" Target="/ppt/notesSlides/notesSlide11.xml" Id="R535ace21bc6b437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19b6724327e4957" /><Relationship Type="http://schemas.openxmlformats.org/officeDocument/2006/relationships/notesSlide" Target="/ppt/notesSlides/notesSlide12.xml" Id="R39da9bd79d46428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6ECB3AF-B915-4C64-90D6-20F937CB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DEF0BD-6050-46DF-9508-35C0086C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475652-FEFD-4BAE-940D-9308A6534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4477EC-B2A3-443F-AF17-7B85AE522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771ABF-AAFD-4796-AF0A-A6872AC1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2818D6-5FCA-48FC-A938-A9DB7B0D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5F934D-BD67-4F8B-BD86-CFB2435E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FDA1D-E2C0-4912-9813-6B5D0F339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19E2F-AF37-4CC4-8789-346F8145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7F62CE-3D64-4C49-8D7E-C4A31AF3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13D663-93DC-4C58-9D87-BE89E970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84FA9A-11D3-4AA7-9F84-151F7AB2D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6F24C5-F949-4C21-86C4-E2F20C309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47C3AAD-0B69-4DDA-81EA-466F54C7B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1B2DC5-A3EA-49BD-BCED-CC5AE7DC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340A1F-5DC6-40D3-A8A4-4D790D3E8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9ECB81-B25F-4093-A44F-FB4E43564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6160C1-EFB3-4026-A95C-698E1D767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BB3077-CF43-47D0-8AF9-070D8DCD8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BE464C3-ED85-4046-8A91-27396A636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1FBD65-6C8A-4ACE-AE39-B93B8A2D5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5DE9DE-78D0-44CC-85B9-3E422D486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AA6A84-E346-40B4-860F-430FD334C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BA3735-83E1-4220-B1E4-32F9EAD0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C8EBEA-6377-4F49-8816-31AA2F51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F8174-F081-4964-850D-F14D9C6CB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AC7EFF-304C-4D1B-B0CB-D2B280AAB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B08685-F323-40EC-AA25-E39FBD63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9125"/>
            <a:ext cx="11144250" cy="4762500"/>
          </a:xfrm>
          <a:prstGeom xmlns:a="http://schemas.openxmlformats.org/drawingml/2006/main" prst="roundRect">
            <a:avLst>
              <a:gd name="adj" fmla="val 1600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19050">
            <a:solidFill>
              <a:srgbClr val="FFD8C6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FE63CE4-717D-49E8-AA61-07DCA5080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0668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DOCUMENTARY AI DEMO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156A8AB-EFAD-4EE0-B6F4-6303AA143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95450"/>
            <a:ext cx="6762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Documentary RAG for</a:t>
            </a:r>
          </a:p>
          <a:p xmlns:a="http://schemas.openxmlformats.org/drawingml/2006/main">
            <a:pPr algn="l">
              <a:defRPr sz="43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Sales Engineering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71ED86-50C7-416F-8226-005464A2C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7524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Turning product documentation into a sourced, explainable assistant for discovery, technical validation and sales preparation.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7817C6-E84F-43F4-8845-51FDD5B61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438650"/>
            <a:ext cx="2000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889F69A-1C1F-42E0-AE43-B0CFBA6AF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495800"/>
            <a:ext cx="1771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OpenAI embeddings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1A9A09-B95A-49A6-8FC3-590CCF1D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438650"/>
            <a:ext cx="20574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3BC7B87-E202-4C32-8745-B9BA11BA3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95800"/>
            <a:ext cx="1828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FAISS vector search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C1421FA-A2F6-45EA-9609-D81F6E4F3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4438650"/>
            <a:ext cx="190500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7A4D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2E78F94-C3C1-4B53-BBC0-172D8DBE4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4495800"/>
            <a:ext cx="1676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Streamlit demo UI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5F50A8D-760B-4321-B679-33798E79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GitHub: Benjiattal/rag-32-pdfs-streamlit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E26EE0B-A4F3-4FAD-9E09-5DADAD9CF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E15A909-18FA-43A1-82E2-8EC2C4A9E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18307391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640194-4464-455C-BDFE-EB595BF3F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97FAA0-73E4-4DE8-898D-7501CE4E9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A7135-DC9C-4AA6-9A24-BAFC68CA9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14146A-78E5-4296-B4C4-57DD8B8A2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7E7B0F-FD2B-46C2-9875-86BAE9D3E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F21885-BF35-4FD4-BBE5-797CDA3D2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37C6DD-3E53-418A-9E96-634398B5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5FB2CF-CEBF-44B0-B60E-D7725011F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7C31E-0DB3-4868-B29A-559C64D4D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051658-DAC6-4640-BE25-C8644FC2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FAF861-0BCD-40AE-8FC7-518635545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D5A2B6-F1B4-4B2D-85E8-C9833334C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CADFD4-2B3B-4039-B482-92B98335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7E3673-2444-445C-8736-04079867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DC15A2-2443-4DF3-A556-8E41242C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92BF5B-D270-49E9-99D8-2225EA039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00A5344-66C0-440E-96F9-D236E987B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7C99BE-29EB-4B2D-9A53-6858B1D2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6D4EFB-CB0E-47EB-84D1-E8D835433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C6C48-7975-48C4-9B0D-E01B881FA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31CD20-05D8-481D-9C98-0554ADA4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11CD8B-A658-4F11-927E-D28D9F413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CC26CD-5830-4328-9DEB-CB90EC3FB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99B314-D7E5-4731-83F1-EE424B19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86B2BB4-0115-4AA3-B19B-309EC042F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6B1BD32-2005-4B4F-8C88-674509C6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68A4ECA-DC66-4D5D-BAAA-BADA8B51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4F59B6A-7899-4AB2-AEE1-7AAB9B431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THE BUSINESS PROBLEM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B2E370D-1882-43A7-A07D-1564ED78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Product knowledge is trapped in documents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30E28D-44BD-45E0-89C8-B2F3F89D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Sales and SE teams need fast, accurate answers without losing source traceability.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72D49A-1B2C-4FA5-A126-9750A9C56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B97B49-1160-4968-82DB-E77FA3B02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32D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5CB808-FF90-4F97-81AC-CD71B60D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52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Before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6BA0F7-66C7-479D-839E-A328B82D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71900"/>
            <a:ext cx="28765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PDFs, whitepapers and datasheets are searched manually. Answers depend on memory, bookmarks and time available.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F36C60F-401C-444B-8E8D-8A6BF2EDC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A715574-F1E2-4243-BCBA-996A590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E4B8C9-AA1E-4EE1-861D-11CBA6EF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352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Need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1495AC-E31B-459D-9215-DB96D7213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771900"/>
            <a:ext cx="28765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Ask a business or technical question and get an answer grounded in the approved corpus.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9FC2B4-904F-4055-A7EB-7AEC20A5B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3333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A68DFAC-DD75-4D40-8A0F-09FDD87D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14325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A4D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2EE4803-AC45-4A02-B51D-E305B749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52800"/>
            <a:ext cx="2876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After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849289F-8179-4C2B-8C67-12BBCCA5D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71900"/>
            <a:ext cx="28765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A focused assistant retrieves the right passages, builds a controlled context and cites clickable sources.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1C1A74-6554-43F4-952A-E036CE544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6725963-7A7B-4832-90CE-4ED40F69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411457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6E428DD-6CF4-4875-A473-9621850E5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32D13C-A248-4750-8BAA-A393DFE7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CF337-072F-433D-87B9-3B8E1256B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E9CD42-DEB7-4481-8B8C-FB073DD11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DE570-86F3-4850-BA76-301F84A69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4715F7-0ECF-4B59-B406-7DCA63CEA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A1BC33-49C1-40F9-A8C7-335F7C85E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E27ADF-0162-4062-BF48-CC3A6CD6D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182440-576F-4DC1-8FE8-A36251CFA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12385F-17F3-4DEE-AD78-1554A6C06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879639-846D-446A-9AF0-8E894BCDC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8E24E8-956D-449F-97C1-3B943148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B8191B-BCC2-4295-8257-149BD8F5B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F241ED7-7025-43C6-B09F-8D807E7BC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358C24-F597-456C-9A22-F9A39D9B2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B40DDA-A53C-4919-922D-6F9B336A7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66AF5-5AD7-419B-A2B0-19ED05798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A7D0131-AC9A-4369-B9B3-0A54F2C7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158D73-2C24-4A44-9C37-3148BE5A5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6FADD3-D5FF-4D88-B613-5F13624E7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A4CB72-7BFE-4BBB-B349-72CEE933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28B74FE-C78C-43D8-B650-58A1EA2E9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928AEFE-E263-484F-AFA3-CC133EB04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61D6EA-493A-4150-8E7A-D891CE78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595AD6-3A9B-4582-AB6B-44FFF8214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E6B3DF-79D1-43AF-9629-3474F39CD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860C9E-94FF-4682-91E9-4D8C0AF7E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98AECFB-9A90-4CE5-85B9-E70259248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RAG IN PLAIN ENGLISH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19B7A52-5D5D-40EE-ADDB-19BBD421C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Retrieve first. Generate second.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DAB11D3-4891-4ABF-8F33-E18EFC4CC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The model does not memorize the corpus. It writes from the passages retrieved at question time.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2F5CB5-9442-4362-B66B-67CF361AA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AD0ABBF-4247-48F8-ACCC-7F8C47F84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43300"/>
            <a:ext cx="1428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User question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B370A7B-7DF2-494E-BDEC-BC6C4D777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333750"/>
            <a:ext cx="20002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B3E9FB-6AD1-418F-976E-3412BBF8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448050"/>
            <a:ext cx="1809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Retrieve relevant chunks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FB2CC5-B172-45FD-B5F1-BB0A73267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209550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6A0343C-224C-4DA5-95D4-F765E7080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48050"/>
            <a:ext cx="1905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Build controlled context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DBBABB4-0674-4E8A-B48E-9237070C0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190750" cy="971550"/>
          </a:xfrm>
          <a:prstGeom xmlns:a="http://schemas.openxmlformats.org/drawingml/2006/main" prst="roundRect">
            <a:avLst>
              <a:gd name="adj" fmla="val 7843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17EFDD-1AE3-48CF-91B0-D1C025DAB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448050"/>
            <a:ext cx="2000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Generate sourced answer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B44B477-D439-417E-BE1F-DB7BD7F1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0047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0CDE96-28D3-4E6E-B2DA-0D4CF2767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1775" y="3743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6D5FC5E-1C86-4FE5-A95C-85A80AAF8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80047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FE5B63A-A978-4216-8BA6-7566D409C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743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A9388B0-DB12-4D10-A081-E252916C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3800475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198F37D-EB26-47CB-979E-6CAD54291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7433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C7CEE9B-01D5-40A1-B773-D8095E4F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048250"/>
            <a:ext cx="8096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Quality depends less on “magic prompting” and more on retrieving the right evidence.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0372EEB-EA4D-4E84-AE6E-A5D7F7AAE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5CE23B33-3AE3-45DF-918F-7F15F453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70785703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5841DA-FC97-4186-BA3A-F369DA946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9A798C-838C-4B36-A59C-57614B4A1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4D51B4-6FE7-4537-9060-970337DCC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A791A-CF45-4C0F-AF7C-D69FF790F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4DA440-2174-4BCB-89AE-73A9F429F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9C5194-DC67-4F13-AF1A-4D9F92B20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7FFB2C-49EA-48D6-B7D8-1D23D9024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8AEF5C-8C88-42AD-AC9E-F66CA1837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E2A49-27A5-464E-B5BA-12BB168BB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61344-C3C4-45B1-9183-2467952E7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C1861F-4890-492C-AAA2-A1E9404E3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BB127-3358-4EC5-9E06-7D04C52E4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D89627-2FFC-481D-9999-B213B773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D0A95-0E5E-4F9B-9E8C-57B844A34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747876-4176-46CC-9214-F0CF8FC98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8D96C4-7E9B-4E03-8D9C-CD26AB472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D5BD8D-A8AA-4F3A-9192-7B41E50CB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4E209E-3521-45CD-BB79-804EAC8ED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44CCA2-6B35-4695-BA64-9E3818FE8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48FB8-6958-4387-9476-9C256CB16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E89704A-F1F7-47A2-AC4C-91CE1C51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1BF60D-240D-42C0-AE18-D0705C88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A8F01A2-DE5F-47A1-9469-ADC19C6B6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F3027C-AC84-40BE-9956-3E06F38D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C96ACA-9BDC-4CF5-ADD0-8104B680A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8D4111-094B-4E87-BB1A-9E69C9DA9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971C4DD-0E15-472F-8C2D-2ACD9E4B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52D8449-501F-4935-9DB7-0C7307DB7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241964-7EAC-4BF9-98E9-D8F0B4F3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A controlled pipeline from corpus to answer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C4E8AD-ACC8-4918-924E-E824CD2CD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Each stage is modular, explainable and testable.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86C4FBB-403D-4090-B252-F8BC5857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1238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39480FA-CD2F-44D6-ADCC-91BEEB53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5280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PDF / Web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21B241-8137-429B-8C57-EB11FE17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238500"/>
            <a:ext cx="1238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9F34E1E-101F-4FB4-96D9-A94E55F48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35280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Chunking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34F2DD-004C-44D0-8476-F3F6127B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38500"/>
            <a:ext cx="1238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62E7C4-6978-4A43-8B42-B7A6EA2D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35280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OpenAI embeddings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DE642CB-33B4-4648-80B8-DB8B72B8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238500"/>
            <a:ext cx="1238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619FA4-083A-4F0D-BAA6-158C2B1F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5280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FAISS index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2DB8F3-C4CA-48DA-BB37-D4AD03E7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38500"/>
            <a:ext cx="1238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C5BBD5D-3361-4B5B-802E-91B3B6E5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5280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Hybrid retrieval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BCB418E-D1D2-42AD-945C-C6A7A31C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0"/>
            <a:ext cx="1238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49F3024-3379-4F8D-AC06-1CE339A4E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35280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Reranking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E5C21F1-1B13-4459-AD6B-DBFE312D9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238500"/>
            <a:ext cx="123825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C6183E-B750-4D3F-A422-A18C0C849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352800"/>
            <a:ext cx="10477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LLM answer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7A62D50-6CB4-4478-AD8F-86BEB21A4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62902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45C6649-456A-4571-8163-9D091651A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3571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F9F8AF7-C68F-4957-A916-674205BA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62902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274D8D3-CD67-4A37-85F3-2155B01CD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71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CF15204-5BAE-480F-BA24-CF5B543D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629025"/>
            <a:ext cx="457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6C4622B-7B50-4D0E-AEE4-34914DDF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571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B62722C-B93D-4324-BCE8-FED6120E7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62902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120F28B-4D1E-4C0B-823F-D5980EB31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5F59AAB-8970-4FB8-B572-EB168733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29025"/>
            <a:ext cx="2667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0F035A9-1A19-42D1-B7B0-3FDEA763B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71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5924961-3570-4B4F-B173-77AE4C078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629025"/>
            <a:ext cx="762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BB9694-958B-4B28-87AC-ED2DED971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3571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326DDC8F-8BF6-4D97-BBE5-E3924A8E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953000"/>
            <a:ext cx="942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41F1C"/>
                </a:solidFill>
                <a:latin typeface="Aptos"/>
                <a:ea typeface="Aptos"/>
                <a:cs typeface="Aptos"/>
              </a:rPr>
              <a:t>Design principle: keep the data plane controlled, make the retrieval trace visible, and let the final LLM focus on synthesis.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79B2D5B-8B0B-45AC-A3E5-D3F04E790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5280D5E-75DD-46F3-899E-1FD7549C1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6177283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2F5AD75-C44B-4B72-B843-D8E1137F6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586544-C5BA-4361-AD86-401938DF7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B91AE4-B951-4D61-B8F6-BB625BEF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EAF9B1-8CB8-424D-8554-B602771DD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B3C481-7E7F-489A-8C87-BF9B39579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B7732B-D43B-43B8-A36C-71C8F535D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EAB683-4B25-46FD-9E38-75D5A93EB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480647-B129-4BA0-A848-15CAEC99C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C4DA84-6AFF-49BA-872E-76D8365C8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5C0AD-AD9C-4200-BFFA-F68026874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01D251-6117-48DA-B706-4748D770F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A5CF7A-1809-4576-9961-AE56B90C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AFF453-9AF2-4779-8A18-EDD5128A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4ABFEC5-2182-4B48-AF26-2B29D27E8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E92905F-E556-4399-8A19-94B84FA60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9A2FF3-7F39-4A8B-9CAD-A9723D378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5E4EC2-73E1-4704-B0FF-02F4E409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830598-63D6-4016-B147-1D926C330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0EED07E-6556-4C1B-A88B-3E25D1883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C1295C-2409-4847-B02B-AFDA4129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7E450C-C746-44DC-9B5F-702D26F9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41E574-A8E5-455F-90A7-15E9E922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4F84DFD-F986-4E6D-8E71-36B4C9544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8CF44EF-B670-4BCC-96CA-3D1F187F7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FDB1CBA-D3DB-4D5A-9FEC-8D1CD29E4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611BD5-92A2-423F-B724-5DD3BDE02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F8DD4A-867B-49BC-B1ED-073B95451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F770CE-E2B8-47CF-93EA-B39078D97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RETRIEVAL QUALITY STACK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82848C3-A849-4749-945D-CB756714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The answer improves before generation starts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1EF82A-B602-4305-9520-5535ECAD7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The project combines semantic search, lexical search and optional reranking.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ECA617D-7C91-4065-9DC0-ECCA15EE7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689C3E5-FAFC-4D7D-B461-F73AE9C6F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20BED57-69ED-44D3-9B5C-B5BB98172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575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1. Smart chunking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CE9C03-681E-4F2C-BDC5-0F701489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76650"/>
            <a:ext cx="21145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Sections, sentences and technical tables are preserved so the retrieval unit keeps meaning.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35130EE-8B97-4FC8-AF29-93E726AB9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45644E8-C3AA-43B0-A2B7-B498C6C3E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0480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C046DC-B0E4-4B9A-9CED-493A8709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575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2. Hybrid search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C739D2-FC6C-446E-8E14-2ACAA020D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76650"/>
            <a:ext cx="21145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FAISS captures semantics; BM25 catches exact product names, acronyms and technical values.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44C068A-F352-4F28-ABFA-2C32FA8E5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25717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F6F254-51FC-43FB-8356-373F41FC1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480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A4D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C69C59-3A87-4418-8A6D-87F332155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257550"/>
            <a:ext cx="2114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3. Query expansion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8DF1B11-79C1-43FF-888E-F8BFB2D4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676650"/>
            <a:ext cx="21145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Generic synonyms and optional LLM rewriting increase recall on fuzzy questions.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BF17415-9E12-4F2E-B402-43E8F7EF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2286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1321627-BBDB-4223-8560-79F5EAB9F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480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5532D"/>
          </a:solidFill>
          <a:ln xmlns:a="http://schemas.openxmlformats.org/drawingml/2006/main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2AC9483-10EF-4594-A668-1BB0DD623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257550"/>
            <a:ext cx="182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4. Reranking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2BF12AC-CA55-4873-92B4-D3B2C1417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676650"/>
            <a:ext cx="18288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BGE or LLM rerankers reorder candidates before the final context is built.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A6A63C-029F-4FB2-AD0F-54441BBC7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F1FDD1B-236A-4641-B4E0-5EA98A3D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13903765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5E3150-441C-455A-A99D-4331F80BB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9B4DD0-8942-436F-BF7A-B4EF142CA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18A28A-8E65-4C2A-B5C0-D318B95A4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06B61B-040C-4DDF-971C-C35E4D36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040FF2-8DBA-4DE3-9729-BB22AB63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8F03A8-46B7-4499-9239-DA1D3785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7FF104-FED9-441F-95BB-19D450B7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664D59-5846-4129-B9A1-D43E6161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680CF-02E6-4F8D-8994-2D725DC7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D39B08-9D24-4872-93B2-94F873EB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18889F-7277-4C5D-A731-15A7FE860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0F3E62-8569-41A4-8E6C-23780D6BC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DD6B29-DCEF-4206-95A9-69CE7D93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29D711-8426-4E39-A510-6769DE858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1E28773-E72B-4335-A853-BBB240FF3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BAFA29-0C23-415B-BCBA-878B72BD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5F8C24-B7F8-4DAD-8C41-EDD651F2F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400131-D5B0-4695-8B01-055E97D1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4F42153-5D06-497A-BF0A-0FA57E01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9A5D8C-CAA3-4B62-B306-9E45AB0CB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308191-4D73-4E2A-AB6D-E5C0AA6E8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BCCBDB-6E94-4D36-8D65-B9BD3E654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DA203D-494B-4805-8358-089945C07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E60961-6261-4DC0-A847-6BC93B0B3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826260-939D-459B-A390-ACC749E25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6045BB8-AEFD-4576-A0A0-8DE559B3D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3EBC79-0A40-4FB2-A627-7643B60E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635ED7E-A99E-4708-B5DA-96A044E6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GOVERNANCE BY DESIGN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89F382-17C8-48BF-8988-18CB00A65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The demo is explainable, not just impressive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A31D93-A4E1-4916-8A33-2C6AD54D5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The UI exposes the levers that matter for trust.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988F92-AC2D-4C42-88AF-147358F34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3143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C47D96-F110-49E2-B184-46F7E1CE3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956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C80071-84A5-4CB1-917A-B93607F1E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0517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Controlled corpus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48D99A5-95AA-4996-A194-9F78C8FA4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24275"/>
            <a:ext cx="26860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Local PDFs and allow-listed web pages. The model answers from known material, not random browsing.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175553D-79D0-4167-9DC2-F71182EC6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95625"/>
            <a:ext cx="3143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6D14E8-22D9-4125-B846-7BA02E7D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956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1500B86-378B-4A7C-B7A6-DE39737D3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30517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Clickable citations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48FBB7D-65C6-4F06-8B4F-A8F920A73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724275"/>
            <a:ext cx="26860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Answers include source numbers linked to the exact PDF page or controlled web source.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34F729-34FC-43F3-935D-1C319ED89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314325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307A72-52D8-4C52-8B1D-43A827949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95625"/>
            <a:ext cx="66675" cy="1952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A4D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CAB66EE-AE24-4474-9FC1-4C1EFB7D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30517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Trace mode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0323E96-35CE-4D50-9072-54F8A2381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724275"/>
            <a:ext cx="2686050" cy="1114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Debug panels show queries, chunks, scores and reranker behavior for live explanation.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7D8DCA7-D2C8-465F-B1E2-48F3828C7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EF7954-79AB-43FB-A07D-CCF849F15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330726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F9E233-E4C0-42EC-BCA0-AB1A50C7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E6FE3-E838-40A9-AB59-64DD8887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4C97DD-A7D0-40A7-9822-DE857958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E215E4-950E-42C3-BE1D-75857322D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941902-DDDA-496E-852A-D76D1960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16D12-295E-4C25-8B60-4AD48762B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77710-4B3C-4BB3-A056-B6C2B0AAF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4C08FC-E956-485F-A077-4ABD73D09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D4412-EC68-4BBC-A429-2F1C2F22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FD70ED-C732-4BFE-9D62-851667B0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AEEC15-6644-4308-8652-E28C7C37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FE912B-3254-4491-B064-FA4B60C6B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027F26-82B2-41E0-8AE0-22271BF7A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48CF6E-2A6E-44BA-8C74-1DBF2C956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5F0661-6A72-4490-A264-50EF95E57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524035-DDAA-48A4-A50E-D3ED95AEE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428F78-B7C9-422F-B011-67A5FEC02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ABD9FA-40AB-460C-BD5C-2A817F3F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00FD3D-E9E3-41CB-89AE-05AD5D4A8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D32B5CA-9202-4D73-9877-128A0ABA6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8D3F68-93BD-4424-9ED4-2C6F0490D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134B40-6FDF-4EB4-85BD-DF5E80299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D59502-00F5-4B64-AD53-21C0FD61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FF10A8-30B9-4C65-A08D-BDDC15CB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47B6B8-8C9E-434E-A70A-BE558E583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73BE517-F140-4848-8E8E-D62B674E2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350AE3-2C9E-4CA5-92CF-E0363FCE7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AA80886-ECBA-42A2-BF9D-640F51086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USER EXPERIENCE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A182188-4AA0-4AF4-8F75-3409A365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A simple interface for comparing quality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C872ADB-4425-4E3D-85F6-B3501A2A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The Streamlit app is built for demos: ask, inspect, tune, compare.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9897AD4-C2C2-4515-B3B9-09F138220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00375"/>
            <a:ext cx="103822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0DFE574-03AA-4BDB-A938-BFA16D4D6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33750"/>
            <a:ext cx="6858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262731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D3F2887-B598-4AF1-89F2-3EDDE1C5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337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DADDE6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DADDE6"/>
                </a:solidFill>
                <a:latin typeface="Aptos"/>
                <a:ea typeface="Aptos"/>
                <a:cs typeface="Aptos"/>
              </a:rPr>
              <a:t>Which solutions can generate revenue for a GSI?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160967-E2D6-4C28-A100-161CE4390C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33750"/>
            <a:ext cx="2524125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700614-7733-41A1-B0A4-E0504F80C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552825"/>
            <a:ext cx="76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Ask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57C2D3E-F664-45A4-ADD0-BAF4E74F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2905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D0A0E58-1405-4EFF-83BF-C5AEFEF4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291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E444553-7BE9-4BA0-B1F9-992D4A6B8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4638675"/>
            <a:ext cx="2447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Main controls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ABB890B-6CBB-4A9F-9579-598791AF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5057775"/>
            <a:ext cx="2447925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Model selection, BGE toggle, LLM reranker toggle and retrieval settings.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AAC074-1141-4C6A-8B4F-549D3149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29125"/>
            <a:ext cx="2905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280EA0C-5C5F-4E16-BC0A-2A761CCB1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291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9EA252E-D33F-4869-84CB-A6A133D69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638675"/>
            <a:ext cx="24479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Settings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9A7F2DD-2D23-452B-A88F-9EAD27FBE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5057775"/>
            <a:ext cx="2447925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Documents, controlled web sources and debug panels are hidden until needed.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23B631F-013E-46E8-B86D-0DE59E96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29125"/>
            <a:ext cx="28098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9A3EA3A-7292-4AEA-A13C-7DC4D444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429125"/>
            <a:ext cx="666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A4D"/>
          </a:solidFill>
          <a:ln xmlns:a="http://schemas.openxmlformats.org/drawingml/2006/main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FBAAFA6-C492-48B5-AE77-EE8309895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4638675"/>
            <a:ext cx="23526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Answer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89EF2CB-A895-4AF0-B82E-FD085676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7225" y="5057775"/>
            <a:ext cx="2352675" cy="-57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Sourced response with clickable numeric citations inside the text.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EE7D2A8-030E-40F5-8667-8A1AF5E0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BDDB3F8-4E10-4DD7-87C7-485141122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48947340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65B8F3-523C-4698-857D-C5645602B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0AB966-5348-46AD-A58E-A8B84E69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31F613-70D2-46DF-9F27-870AD070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35E68-164F-4821-8A6C-45C527924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D81BD5-16F3-4CC1-BCAC-0C973DF7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B1FAE-46ED-4957-9CD2-AD0CBA12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FCAD26-AB49-437D-B88F-BC746C26C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CA0D1D-78D6-42DC-8306-2F2E09F9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019D16-71FC-4267-A6E5-36AA2EA08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37462D-48F6-4207-AA27-BCAA37F9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DBE824-5B51-4810-99CC-9DA01B6CA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8D07B6-5FEF-4736-905E-9B0840E5C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DCEDCE-4F22-40AB-AE5A-56A1377D9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0F677B-D0C4-4E5B-AC13-DDD836995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913CFC-CB96-473B-8973-D254DB65D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A3C263-868E-454C-8836-2B6FB4F1A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732340-7CD4-482E-9C62-4E9EDEF7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5A8AF4-DAB8-408E-BDF8-F454E0440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B698D66-1B77-4924-ADC4-27178911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C9E0A4-7C6F-4EC5-95CF-CE38BB07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A1EAC0-9C32-4CF5-8DC7-8E65ADAE5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02FA56-79C5-40F6-9463-62698DC17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BDD0D9-F1FB-4339-A4FA-5ADADFD6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CD005C8-C075-40BB-92E9-2DDFBA288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35954F-4CB7-4B3E-A0E0-2241387C4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5975747-49A4-45AD-8D74-7649E35EE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72E62B2-F744-4600-BAED-992C583EC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81157D-47B1-4EFC-805D-6F2C89B7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WHAT IT DEMONSTRATES FOR SALES ENGINEERING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00EDCF-6CBC-46F2-881D-A37ABEA89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A practical bridge between business value and technical credibility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A47886E-9B57-4ECC-8C4D-DD92D8791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The project tells a complete solution story, not just a coding story.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E1C0BE6-5AED-461F-91AA-74E0F61FD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C22B6F2-FB09-4351-B76D-2413D1A76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3D7A99A-FD0B-43B6-A38C-25BB18AA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099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Business framing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AE23D01-B20C-4BAC-AD93-D5B73ACBF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29025"/>
            <a:ext cx="26860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Translate a real productivity pain into an AI-assisted workflow with measurable user value.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6A962DC-8E2B-4345-8366-4F71359EB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BE3070-CD39-4802-9C1C-B85F032B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F88300-069B-43F1-8B4C-05D23414A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099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Technical explanation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F9A576-F7F6-44E1-B85A-3AE14992E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29025"/>
            <a:ext cx="26860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Explain embeddings, vector search, reranking and grounding in simple language.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326192-D40B-4F63-8212-37A62CD77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3143250" cy="2143125"/>
          </a:xfrm>
          <a:prstGeom xmlns:a="http://schemas.openxmlformats.org/drawingml/2006/main" prst="roundRect">
            <a:avLst>
              <a:gd name="adj" fmla="val 35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02F637A-96E1-4A0D-82EB-72EF8398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66675" cy="2143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A4D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8B6292-B554-4CB8-AC4E-34926E38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99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Customer relevance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FCD8FC-F62E-4975-9A50-61F59E44B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629025"/>
            <a:ext cx="2686050" cy="1304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Use sourced answers to prepare discovery, compare products and support technical validation.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65EC35-60A5-4BF0-8F9D-11A95E829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B418A1-22BB-456E-A0E4-D4A7F065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78294308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89B0CF0-E719-4FCB-8875-D6744B6C5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DD6053-89FF-46D7-8D88-CA5DB56A3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67F8F6-0C8B-49E4-8BA6-47E56B714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A6FA9F-9029-4D4A-8E5D-2934D293C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D1288-402D-43E4-B1AE-F562833C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C838AC-3257-484F-9A76-DF5C3B6A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D06DD5-3029-474A-A15C-51DD2C5A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67F97C-C772-4C9E-9CE4-60C97764A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DFA23A-5BFD-46A2-BC67-187A9BEF3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8984D8-276E-4A3D-8B36-7DD99E7B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12D014-E832-47C4-AF26-9D639B08D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9319B7-8E05-4BA0-9D59-C5D0ECD50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82F6A90-68B5-4490-A366-62EEA47C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FAB786-FDF3-46AD-865A-C29B70D3E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6267F-4995-4589-B2EF-B16CF6BFC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704FCA-3F37-49B5-8B76-517E74A6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D13323-9142-4821-80EB-743BB1E43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AF52102-8EC1-47D8-9272-49A77572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383D0E-080D-4795-B064-C9A31E124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8ABC18B-848D-43D9-AF01-1A3D6E126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01F7E0-487F-49CD-8D68-8611BA074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7793F-7224-4E4E-B6C3-992922E72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473C04-1FAE-4F0E-8A32-FA9248AB7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BB287E-9D8A-4762-91D5-E080C6BB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5B2EB0E-E71A-4B1B-88B2-46A1368EA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8D489E4-F129-493B-B8FD-DFE132E9B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8029C-6F7C-4E02-A462-549E52D58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5CB724D-1A72-4C31-BDA3-3DDD9873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CODE ARCHITECTURE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240D470-AA72-4405-B25A-FE3EDA891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The project is now modular enough to defend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4FBEA7B-A136-46B3-9830-D2AE217DF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The refactor separates responsibilities while keeping the original facade compatible.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ACE062A-8C2F-42D2-BAB7-E13D3303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4095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049B1A-7D51-4015-8D31-24B3C354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9875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8401C61-8251-4A80-B949-2DC18174A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1942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ingestion.py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1C93CA-5A22-4F29-993F-134A8E8FD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38525"/>
            <a:ext cx="3638550" cy="-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PDF and web extraction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F9EECB8-F2C3-4177-893D-86FAAC07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4095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79724E5-FF9B-4A0A-89DA-0CF19119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95675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966B603-EDCE-4816-B6C3-27A0F57A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0522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chunking.py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50603FD-DEEC-43AE-92C3-C5D1D06FD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24325"/>
            <a:ext cx="3638550" cy="-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Sections, sentences, tables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AC6BA56-C0CB-4572-8F01-465744FB6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4095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464B73-FB71-4AED-B6B5-4B58EA9EC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81475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733583-449B-4202-B023-F9DAB441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9102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embeddings.py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EDB61A0-21AA-4FD7-902D-33F5A4531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10125"/>
            <a:ext cx="3638550" cy="-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OpenAI vectors and cache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F19C868-E5EA-4171-988C-779591D6F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4095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AA45A06-C3B0-4453-A5A8-5065613D5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67275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B7ED82-B115-4412-8280-0F166218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7682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retrieval.py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C08872-699F-40B5-A305-6628C0EA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95925"/>
            <a:ext cx="3638550" cy="-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BM25, fusion, filters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74A790B-7F3C-482E-8AC5-1DBC02E5F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9875"/>
            <a:ext cx="4095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4E7FD9-B921-458C-B883-E46A10ED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809875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08B491-30FC-4795-9247-614CF1565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01942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search.py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FCB4E25-BDD6-42E3-88B5-01FE7F5E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438525"/>
            <a:ext cx="3638550" cy="-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FAISS orchestration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1EB2C90-3111-4217-8032-9071A5F8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95675"/>
            <a:ext cx="4095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6E21DE7-E0FD-429F-812C-6AD6F003E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3495675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5C79EC6-CB43-4CEA-90AD-8C90126EA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70522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reranking.py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CF9DBDF-A895-4634-9284-956D3C57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124325"/>
            <a:ext cx="3638550" cy="-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BGE and LLM rerankers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6947B9-E10A-49A2-8CF2-E9AEE1E1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81475"/>
            <a:ext cx="4095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EFF3461D-8635-4CF1-AE83-D5682C32B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181475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4B7C0C7-BA63-4484-96EF-CD8F4944C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39102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prompting.py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DBAE46E-8BC4-4A90-BE21-218CC732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810125"/>
            <a:ext cx="3638550" cy="-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Context and final prompt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A12D06B-5A94-4136-94CB-5EAA30D9C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67275"/>
            <a:ext cx="4095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4A5EF7-DADB-4FFB-8F45-909ADC677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4867275"/>
            <a:ext cx="66675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FBDA8ED-D89A-4830-921A-788AC37F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76825"/>
            <a:ext cx="3638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pipeline.py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6926FC4-8B9C-4D0A-9668-939E4A08B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495925"/>
            <a:ext cx="3638550" cy="-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Search -&gt; prompt -&gt; LLM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F434DEA-058E-4587-B120-A227EAD9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695700"/>
            <a:ext cx="18097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A994BC30-74D2-4FE3-9C99-33DADD4D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810000"/>
            <a:ext cx="161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rag_pdf.py facade</a:t>
            </a:r>
          </a:p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Streamlit compatibility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E43A778-4B31-4C21-9D7D-C7EED2FB4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9F33321A-FAF0-479B-8676-0BFF0B8DA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14509462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3DB34D-9252-4B1C-B4FD-B1BF933D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3A7C05-E247-4123-A7F0-A187F4F86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E9459C-3829-4271-93EE-3FB13996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E46851-9220-4DD1-8F11-2827FB0E4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5032BC-97BE-469A-B390-3D296F771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D92D6-1D84-4859-AD2B-207AD02B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8E0034-AAA5-4938-B152-E62E50DF3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6129C3-CFEA-4A3E-A04D-0FAE6C3F8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7D2C18-1404-4869-8061-0C5FDCD30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D7293E-1162-4135-A0FE-C18194F6D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973AEAD-9B64-4222-A869-46514CA22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EEA107-FFFB-4D60-8DE1-3ED85D006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05A8D3-0984-4780-9A09-54377922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8D1D2E-1C26-4BD1-B14C-E744278C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C56F80-9B10-4C8D-A490-990C7F21E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58E779-F4D0-4955-9D79-818CCDBF9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806C3-5A4E-4C29-B325-8CADEAE5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A9D6D-78C3-4E33-A8C5-4533F0BD7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DABADD-1D6D-47F4-892D-7DD4F6D7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0698A1F-6815-4241-AE5A-D51B6B7F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F6172BE-FDB1-4C59-B3EB-93413E4F2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E5A41E-59E6-4EE7-B9DD-38136A4EA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A09880-6930-4DC7-A820-12343E358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B3C1AC-893E-4F20-871C-94FBCBB5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A32B08-0A93-449F-887C-7632AB23A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EEA0741-B79A-4F6E-8639-50566BF15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EFD04D-7918-4D34-B506-4A80A7471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7C22FB5-28E2-410D-897D-6707C36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GENERIC BY DEFAULT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EAF25F-2F8E-4338-9112-081C7D813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Domain logic is optional, not hard-coded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7F8F4D-B19A-4D95-B4CA-BBD26ED9F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The engine can be reused with another PDF corpus by changing profiles, not rewriting core code.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EAFCB73-6D0D-43F4-8FB8-98DF07F3E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3190875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3FB8F36-3721-459F-BC38-98269DAA9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30517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Generic RAG engine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D9CA2D5-B6A9-499E-8967-73CEF3085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90875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C89891-8783-4DE8-AED3-9DD451F0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30517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Domain profile JSON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6FBABD-9290-4842-A52A-D5EF49CF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190875"/>
            <a:ext cx="2381250" cy="9144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C0D56AA-E256-469E-B310-55F5AB6C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305175"/>
            <a:ext cx="2190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Any approved corpus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B85AC5-BFDC-4F4E-A824-6C3F1433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29025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0A7D8C3-A934-41D7-92ED-4BBD21C6A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571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2B4943D-F20E-49E4-9FAC-47220770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629025"/>
            <a:ext cx="1123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A21A994-DD2C-48C5-9481-2ABFBDC3B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57187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9C245BE-07A9-41FA-825C-6B7DC8C2A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4905375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41F1C"/>
                </a:solidFill>
                <a:latin typeface="Aptos"/>
                <a:ea typeface="Aptos"/>
                <a:cs typeface="Aptos"/>
              </a:rPr>
              <a:t>Profiles can add synonyms, rewrite constraints and answer rules without polluting the retrieval engine.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37B5928-81D6-418D-ABDE-8ECF6B7A4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2B4A235-E6B8-4605-841E-79100EA4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4264119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6205B61-7B78-4613-A869-758713A7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524AF9-3E25-4F51-ABB0-391225A5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6B707C-9613-466F-8A0B-07272C0CF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78B7DF-2170-4E5F-B681-E6C8E22AA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12FE9-47FF-4CD2-8262-01EFAAF6C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8B81CC6-3394-4F5D-8B3F-9FFCDEC70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BA603D-E79C-40CE-9F48-151B41E4B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2B901D-07B1-4865-9507-B776D3216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8AE58A-2B83-4C7D-B531-D2D20E2E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7F77E-6124-44F0-8E4F-864EFF11C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E4E369-0E66-4FE6-9DED-BD52B61AE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94E6D2-A5EB-4E16-83CC-847D1B08C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47541C-BD2D-49D4-AD80-4F5D96128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8DDF2C-EFC2-4161-96F3-3DAF0F667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2CEBAC-BAE0-4302-B25E-D85D59427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ECCD440-03FD-4D11-90B8-ACDEF88C1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6D6AD7-7CBD-48D4-B6D4-7E59CC28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89DFB3-77FC-49E5-A247-D12FAE7AC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0C38AB-A55D-4A9B-AE82-FA12CABF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7E984C-A804-4543-AE95-5802FAA16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067C42F-F357-4AB4-A3E3-37F37608C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AF7852-6397-4875-AB94-AEFF0A6A1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89F0A6-46E4-43B7-9188-CBEBE05F6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71DB7BE-E3BA-4AAA-BDFD-1817A83FE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63F281-375C-4F07-A25F-3756A570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CA7F1C-53A1-4EF0-B16A-CC7A19D6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89BD20-4B1C-4BF2-AAAD-F7B80C5A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F984A6B-9ABE-4035-A4C5-2543EA6D7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5300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KNOWN LIMITS AND ROADMAP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2443F3-118D-4E1A-8095-6BAC24BC1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38200"/>
            <a:ext cx="8572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241F1C"/>
                </a:solidFill>
                <a:latin typeface="Aptos Display"/>
                <a:ea typeface="Aptos Display"/>
                <a:cs typeface="Aptos Display"/>
              </a:rPr>
              <a:t>The remaining work is about measurement and industrialization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875B2DD-4C1F-457D-96CB-34172132E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8096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The prototype is strong enough for demo; the next layer is repeatable evaluation.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EF3C5F-AC88-4820-BFF0-195C5F3F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C45971-0074-4E0F-BD81-0240B17E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00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7A4D"/>
          </a:solidFill>
          <a:ln xmlns:a="http://schemas.openxmlformats.org/drawingml/2006/main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516B0DC-BD39-4521-A714-3B7BA3A99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2099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Evaluation set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F946BA3-2741-449E-AB4B-7076EF973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29025"/>
            <a:ext cx="2686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Create benchmark questions with expected documents, recall@k and answer checks.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33586FD-715D-4159-BE78-0B50A4D0D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B2D26F2-D75D-44EB-A614-ADE6F8603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00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8A6A05-5B2A-481A-91A4-11B7979C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2099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Performance dashboard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74347D0-5BCD-4B51-8DBA-E88B9F69E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3629025"/>
            <a:ext cx="2686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Compare latency and quality across base retrieval, BGE, LLM reranking and model choice.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3A711A0-FCF9-4654-89D0-E1CEF5FF4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3143250" cy="209550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8CFA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ECCB1AC-8DDD-422D-A958-764DB5F4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000375"/>
            <a:ext cx="66675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D17A03-D4D0-4103-AEAB-E9D134597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209925"/>
            <a:ext cx="2686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1F1C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41F1C"/>
                </a:solidFill>
                <a:latin typeface="Aptos"/>
                <a:ea typeface="Aptos"/>
                <a:cs typeface="Aptos"/>
              </a:rPr>
              <a:t>Production path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B6CE937-0D53-48D6-B142-2ADA1C85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629025"/>
            <a:ext cx="26860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Move from local FAISS/Streamlit to API service, auth, monitoring and shared corpus governance.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AFF7DA-2BB0-46AF-B2B6-7920BF52D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2964F50-C6D1-45CE-BC8F-F0A5E79A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3803115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64DC5D-5BD7-4F93-90EE-5E81F1C4C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EC"/>
          </a:solidFill>
          <a:ln xmlns:a="http://schemas.openxmlformats.org/drawingml/2006/main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A7F5F2-AB12-495E-9C9A-0168561BC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8DFB72-F54F-4D10-AE2F-F38102CCC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74BB1-2C11-46FE-95D4-A5383E05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1CDFE4-F920-42EB-8D43-AE84B0F9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6D28291-E617-45E3-804C-5F3F798E4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EB88DB-06F8-4CCA-BB55-86687EF0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35B9A6-D006-41A9-BCE9-144841D24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8A5C59-451B-436F-B5C5-56AE5383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C6BAE5-5D3E-406A-8CE7-A237E7BD9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07AED8-5550-415D-B1F6-893D9D0B3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16EFBB-B716-4C66-B2E6-D002DCDFD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DF7098-8ECD-4B50-AB69-B01CA6DA8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8EF9E9-9F19-4163-9878-48519F82C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600246-03E1-4A40-AA23-B21242EFE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EEA1B7-F694-4BF2-A2FE-0C0B204A8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824B9-FB5C-44BE-8C17-ED54688EC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24DC1D-3368-461A-A5DE-33A65E9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95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54BC3-8974-437D-B8B4-128AB23B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989DDD-0172-4220-9DED-D2E389488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76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3EEB6FA-0C7F-4E81-B235-94F2A20A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30EF926-B2EF-4583-ADB7-A77175B8A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ACA0D4-FD34-450E-9E2F-EA12B2C44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048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08606C-F51F-4241-A298-1FD0BA1EB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810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05BAEF-FD99-4B1C-98A1-E0A1E59C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9835D0B-0CBD-43AD-94BB-97A1CF990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334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6261C86-CEA5-4E2D-AB47-DFD922C59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96000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2C8"/>
          </a:solidFill>
          <a:ln xmlns:a="http://schemas.openxmlformats.org/drawingml/2006/main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D2F4D2-18A9-4682-9507-0F124FB26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1F1C"/>
          </a:solidFill>
          <a:ln xmlns:a="http://schemas.openxmlformats.org/drawingml/2006/main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C4020F-D8E1-49A3-93C8-9F7FB346B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CF3B91B-ACFB-4C8C-B0CC-DD3256D30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8001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TALK TRACK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C3B9D3-A15F-483B-AC9B-3AFEAF8E9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28750"/>
            <a:ext cx="8572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 credible AI demo is not a chatbot.</a:t>
            </a:r>
          </a:p>
          <a:p xmlns:a="http://schemas.openxmlformats.org/drawingml/2006/main">
            <a:pPr algn="l">
              <a:def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6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It is a controlled answer factory.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EC894BF-7986-4F62-9A28-83135EFA4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3250"/>
            <a:ext cx="742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F6E6D1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F6E6D1"/>
                </a:solidFill>
                <a:latin typeface="Aptos"/>
                <a:ea typeface="Aptos"/>
                <a:cs typeface="Aptos"/>
              </a:rPr>
              <a:t>This project shows how to ingest trusted documents, retrieve evidence, expose quality controls and generate sourced answers that a Sales Engineering team can explain.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1FD2CBB-68D0-4EF6-8129-8AC92ED66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E65A1D"/>
          </a:solidFill>
          <a:ln xmlns:a="http://schemas.openxmlformats.org/drawingml/2006/main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9B7A76-4665-441C-887E-A1708C4C0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Demo-ready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681C850-B923-4AA9-9018-665952D98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762500"/>
            <a:ext cx="14287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34B73"/>
          </a:solidFill>
          <a:ln xmlns:a="http://schemas.openxmlformats.org/drawingml/2006/main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F7E6CE-D466-4CBE-B122-00110D8B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4819650"/>
            <a:ext cx="1200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Explainable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55E01E6-F006-4E46-BA98-B315B56F9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762500"/>
            <a:ext cx="1238250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257A4D"/>
          </a:solidFill>
          <a:ln xmlns:a="http://schemas.openxmlformats.org/drawingml/2006/main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0C89BFE-C5A9-4FE6-96FE-B358A5912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819650"/>
            <a:ext cx="1009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Reusable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6EDA4C-5393-42AA-AF8B-15C7B55D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6858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6E6D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6E6D1"/>
                </a:solidFill>
                <a:latin typeface="Aptos"/>
                <a:ea typeface="Aptos"/>
                <a:cs typeface="Aptos"/>
              </a:rPr>
              <a:t>Next: add evaluation and a short benchmark to make quality measurable.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D17812F-2899-4406-B74B-2E59297A5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736A6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736A63"/>
                </a:solidFill>
                <a:latin typeface="Aptos"/>
                <a:ea typeface="Aptos"/>
                <a:cs typeface="Aptos"/>
              </a:rPr>
              <a:t>Documentary RAG for Sales Engineering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C73053E-E7AC-46B5-B8B0-CB4F50E58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198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lIns="57150" tIns="38100" rIns="57150" bIns="3810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E65A1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E65A1D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4111999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2026-05-04T09:36:49.6950000Z</dcterms:created>
  <dcterms:modified xsi:type="dcterms:W3CDTF">2026-05-04T09:36:49.6950000Z</dcterms:modified>
</coreProperties>
</file>